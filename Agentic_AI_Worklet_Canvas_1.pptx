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-100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274320"/>
            <a:ext cx="1691640" cy="3669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237744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B02A2A"/>
                </a:solidFill>
                <a:latin typeface="Calibri"/>
              </a:rPr>
              <a:t>AGENTIC AI  (26ECAC401)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45720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1B2A4A"/>
                </a:solidFill>
                <a:latin typeface="Calibri"/>
              </a:rPr>
              <a:t>Team Worklet </a:t>
            </a:r>
            <a:r>
              <a:rPr sz="2600" b="1" i="0">
                <a:solidFill>
                  <a:srgbClr val="B02A2A"/>
                </a:solidFill>
                <a:latin typeface="Calibri"/>
              </a:rPr>
              <a:t>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96926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1">
                <a:solidFill>
                  <a:srgbClr val="5A6270"/>
                </a:solidFill>
                <a:latin typeface="Calibri"/>
              </a:rPr>
              <a:t>Blank template — one per team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" y="1298448"/>
            <a:ext cx="11679631" cy="603504"/>
          </a:xfrm>
          <a:prstGeom prst="roundRect">
            <a:avLst>
              <a:gd name="adj" fmla="val 4000"/>
            </a:avLst>
          </a:prstGeom>
          <a:solidFill>
            <a:srgbClr val="F6F4F0"/>
          </a:solidFill>
          <a:ln w="9525">
            <a:solidFill>
              <a:srgbClr val="D9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38988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B02A2A"/>
                </a:solidFill>
                <a:latin typeface="Calibri"/>
              </a:rPr>
              <a:t>TEAM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4048" y="1773936"/>
            <a:ext cx="1874520" cy="0"/>
          </a:xfrm>
          <a:prstGeom prst="line">
            <a:avLst/>
          </a:prstGeom>
          <a:ln w="12700">
            <a:solidFill>
              <a:srgbClr val="B9B2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514600" y="138988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B02A2A"/>
                </a:solidFill>
                <a:latin typeface="Calibri"/>
              </a:rPr>
              <a:t>DISCIPLINE  (ME / CE / EE)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14600" y="1773936"/>
            <a:ext cx="2606040" cy="0"/>
          </a:xfrm>
          <a:prstGeom prst="line">
            <a:avLst/>
          </a:prstGeom>
          <a:ln w="12700">
            <a:solidFill>
              <a:srgbClr val="B9B2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394960" y="1389888"/>
            <a:ext cx="6309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B02A2A"/>
                </a:solidFill>
                <a:latin typeface="Calibri"/>
              </a:rPr>
              <a:t>WORKLET  —  one-line goal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94960" y="1773936"/>
            <a:ext cx="6172200" cy="0"/>
          </a:xfrm>
          <a:prstGeom prst="line">
            <a:avLst/>
          </a:prstGeom>
          <a:ln w="12700">
            <a:solidFill>
              <a:srgbClr val="B9B2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56032" y="202996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B2A4A"/>
                </a:solidFill>
                <a:latin typeface="Calibri"/>
              </a:rPr>
              <a:t>AGENT LOOP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91640" y="2011680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Goal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18688" y="2167128"/>
            <a:ext cx="310896" cy="0"/>
          </a:xfrm>
          <a:prstGeom prst="line">
            <a:avLst/>
          </a:prstGeom>
          <a:ln w="25400">
            <a:solidFill>
              <a:srgbClr val="B02A2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557016" y="2011680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84064" y="2167128"/>
            <a:ext cx="310895" cy="0"/>
          </a:xfrm>
          <a:prstGeom prst="line">
            <a:avLst/>
          </a:prstGeom>
          <a:ln w="25400">
            <a:solidFill>
              <a:srgbClr val="B02A2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422392" y="2011680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49440" y="2167128"/>
            <a:ext cx="310896" cy="0"/>
          </a:xfrm>
          <a:prstGeom prst="line">
            <a:avLst/>
          </a:prstGeom>
          <a:ln w="25400">
            <a:solidFill>
              <a:srgbClr val="B02A2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287768" y="2011680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Observe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14816" y="2167128"/>
            <a:ext cx="310896" cy="0"/>
          </a:xfrm>
          <a:prstGeom prst="line">
            <a:avLst/>
          </a:prstGeom>
          <a:ln w="25400">
            <a:solidFill>
              <a:srgbClr val="B02A2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53144" y="2011680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Improve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" y="2542032"/>
            <a:ext cx="11679631" cy="31089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569463"/>
            <a:ext cx="195681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7 SKILLS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05456" y="2569463"/>
            <a:ext cx="30906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14 HANDS-ON LABS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9008" y="2569463"/>
            <a:ext cx="23591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CORE CONCEPTS COVERED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569463"/>
            <a:ext cx="354147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HOW OUR WORKLET ADDRESSES 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2934987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852927"/>
            <a:ext cx="1591055" cy="4567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05456" y="2852927"/>
            <a:ext cx="3072384" cy="4567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02A2A"/>
                </a:solidFill>
                <a:latin typeface="Calibri"/>
              </a:rPr>
              <a:t>L1  </a:t>
            </a:r>
            <a:r>
              <a:rPr sz="1100" b="0" i="0">
                <a:solidFill>
                  <a:srgbClr val="22272E"/>
                </a:solidFill>
                <a:latin typeface="Calibri"/>
              </a:rPr>
              <a:t>Agent vs Chatbot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02A2A"/>
                </a:solidFill>
                <a:latin typeface="Calibri"/>
              </a:rPr>
              <a:t>L2  </a:t>
            </a:r>
            <a:r>
              <a:rPr sz="1100" b="0" i="0">
                <a:solidFill>
                  <a:srgbClr val="22272E"/>
                </a:solidFill>
                <a:latin typeface="Calibri"/>
              </a:rPr>
              <a:t>Tool-Using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79008" y="2852927"/>
            <a:ext cx="2340864" cy="4567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B02A2A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72E"/>
                </a:solidFill>
                <a:latin typeface="Calibri"/>
              </a:rPr>
              <a:t>Agent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B02A2A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72E"/>
                </a:solidFill>
                <a:latin typeface="Calibri"/>
              </a:rPr>
              <a:t>Tools &amp; Function Calling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39328" y="2999232"/>
            <a:ext cx="3468319" cy="0"/>
          </a:xfrm>
          <a:prstGeom prst="line">
            <a:avLst/>
          </a:prstGeom>
          <a:ln w="9525">
            <a:solidFill>
              <a:srgbClr val="C9C2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339328" y="3182112"/>
            <a:ext cx="3468319" cy="0"/>
          </a:xfrm>
          <a:prstGeom prst="line">
            <a:avLst/>
          </a:prstGeom>
          <a:ln w="9525">
            <a:solidFill>
              <a:srgbClr val="C9C2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56032" y="3309654"/>
            <a:ext cx="11679631" cy="0"/>
          </a:xfrm>
          <a:prstGeom prst="line">
            <a:avLst/>
          </a:prstGeom>
          <a:ln w="9525">
            <a:solidFill>
              <a:srgbClr val="D9D3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256032" y="3309654"/>
            <a:ext cx="11679631" cy="456726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65760" y="339171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3309654"/>
            <a:ext cx="1591055" cy="4567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Skills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05456" y="3309654"/>
            <a:ext cx="3072384" cy="4567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02A2A"/>
                </a:solidFill>
                <a:latin typeface="Calibri"/>
              </a:rPr>
              <a:t>L3  </a:t>
            </a:r>
            <a:r>
              <a:rPr sz="1100" b="0" i="0">
                <a:solidFill>
                  <a:srgbClr val="22272E"/>
                </a:solidFill>
                <a:latin typeface="Calibri"/>
              </a:rPr>
              <a:t>Skill Creation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02A2A"/>
                </a:solidFill>
                <a:latin typeface="Calibri"/>
              </a:rPr>
              <a:t>L4  </a:t>
            </a:r>
            <a:r>
              <a:rPr sz="1100" b="0" i="0">
                <a:solidFill>
                  <a:srgbClr val="22272E"/>
                </a:solidFill>
                <a:latin typeface="Calibri"/>
              </a:rPr>
              <a:t>Memory &amp; Retrieval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79008" y="3309654"/>
            <a:ext cx="2340864" cy="4567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B02A2A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72E"/>
                </a:solidFill>
                <a:latin typeface="Calibri"/>
              </a:rPr>
              <a:t>Skills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B02A2A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72E"/>
                </a:solidFill>
                <a:latin typeface="Calibri"/>
              </a:rPr>
              <a:t>Memory &amp; Context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339328" y="3455958"/>
            <a:ext cx="3468319" cy="0"/>
          </a:xfrm>
          <a:prstGeom prst="line">
            <a:avLst/>
          </a:prstGeom>
          <a:ln w="9525">
            <a:solidFill>
              <a:srgbClr val="C9C2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339328" y="3638838"/>
            <a:ext cx="3468319" cy="0"/>
          </a:xfrm>
          <a:prstGeom prst="line">
            <a:avLst/>
          </a:prstGeom>
          <a:ln w="9525">
            <a:solidFill>
              <a:srgbClr val="C9C2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56032" y="3766381"/>
            <a:ext cx="11679631" cy="0"/>
          </a:xfrm>
          <a:prstGeom prst="line">
            <a:avLst/>
          </a:prstGeom>
          <a:ln w="9525">
            <a:solidFill>
              <a:srgbClr val="D9D3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65760" y="3803549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" y="3766381"/>
            <a:ext cx="1591055" cy="3669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MCP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05456" y="3766381"/>
            <a:ext cx="3072384" cy="3669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02A2A"/>
                </a:solidFill>
                <a:latin typeface="Calibri"/>
              </a:rPr>
              <a:t>L5  </a:t>
            </a:r>
            <a:r>
              <a:rPr sz="1100" b="0" i="0">
                <a:solidFill>
                  <a:srgbClr val="22272E"/>
                </a:solidFill>
                <a:latin typeface="Calibri"/>
              </a:rPr>
              <a:t>MCP-Style Connector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79008" y="3766381"/>
            <a:ext cx="2340864" cy="3669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B02A2A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72E"/>
                </a:solidFill>
                <a:latin typeface="Calibri"/>
              </a:rPr>
              <a:t>MCP Connector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339328" y="3912685"/>
            <a:ext cx="3468319" cy="0"/>
          </a:xfrm>
          <a:prstGeom prst="line">
            <a:avLst/>
          </a:prstGeom>
          <a:ln w="9525">
            <a:solidFill>
              <a:srgbClr val="C9C2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56032" y="4133324"/>
            <a:ext cx="11679631" cy="0"/>
          </a:xfrm>
          <a:prstGeom prst="line">
            <a:avLst/>
          </a:prstGeom>
          <a:ln w="9525">
            <a:solidFill>
              <a:srgbClr val="D9D3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256032" y="4133324"/>
            <a:ext cx="11679631" cy="366942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65760" y="417049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8" y="4133324"/>
            <a:ext cx="1591055" cy="3669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OpenCLA / OpenClaw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05456" y="4133324"/>
            <a:ext cx="3072384" cy="3669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02A2A"/>
                </a:solidFill>
                <a:latin typeface="Calibri"/>
              </a:rPr>
              <a:t>L6  </a:t>
            </a:r>
            <a:r>
              <a:rPr sz="1100" b="0" i="0">
                <a:solidFill>
                  <a:srgbClr val="22272E"/>
                </a:solidFill>
                <a:latin typeface="Calibri"/>
              </a:rPr>
              <a:t>OpenCLA/OpenClaw Runtime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79008" y="4133324"/>
            <a:ext cx="2340864" cy="3669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B02A2A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72E"/>
                </a:solidFill>
                <a:latin typeface="Calibri"/>
              </a:rPr>
              <a:t>OpenCLA/OpenClaw Runtime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339328" y="4279628"/>
            <a:ext cx="3468319" cy="0"/>
          </a:xfrm>
          <a:prstGeom prst="line">
            <a:avLst/>
          </a:prstGeom>
          <a:ln w="9525">
            <a:solidFill>
              <a:srgbClr val="C9C2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56032" y="4500267"/>
            <a:ext cx="11679631" cy="0"/>
          </a:xfrm>
          <a:prstGeom prst="line">
            <a:avLst/>
          </a:prstGeom>
          <a:ln w="9525">
            <a:solidFill>
              <a:srgbClr val="D9D3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365760" y="458232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9808" y="4500267"/>
            <a:ext cx="1591055" cy="4567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Swarms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05456" y="4500267"/>
            <a:ext cx="3072384" cy="4567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02A2A"/>
                </a:solidFill>
                <a:latin typeface="Calibri"/>
              </a:rPr>
              <a:t>L7  </a:t>
            </a:r>
            <a:r>
              <a:rPr sz="1100" b="0" i="0">
                <a:solidFill>
                  <a:srgbClr val="22272E"/>
                </a:solidFill>
                <a:latin typeface="Calibri"/>
              </a:rPr>
              <a:t>Agentic Node Graph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02A2A"/>
                </a:solidFill>
                <a:latin typeface="Calibri"/>
              </a:rPr>
              <a:t>L8  </a:t>
            </a:r>
            <a:r>
              <a:rPr sz="1100" b="0" i="0">
                <a:solidFill>
                  <a:srgbClr val="22272E"/>
                </a:solidFill>
                <a:latin typeface="Calibri"/>
              </a:rPr>
              <a:t>Parallel Swarm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79008" y="4500267"/>
            <a:ext cx="2340864" cy="4567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B02A2A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72E"/>
                </a:solidFill>
                <a:latin typeface="Calibri"/>
              </a:rPr>
              <a:t>Node Graphs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B02A2A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72E"/>
                </a:solidFill>
                <a:latin typeface="Calibri"/>
              </a:rPr>
              <a:t>Parallel Swarms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8339328" y="4646571"/>
            <a:ext cx="3468319" cy="0"/>
          </a:xfrm>
          <a:prstGeom prst="line">
            <a:avLst/>
          </a:prstGeom>
          <a:ln w="9525">
            <a:solidFill>
              <a:srgbClr val="C9C2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339328" y="4829451"/>
            <a:ext cx="3468319" cy="0"/>
          </a:xfrm>
          <a:prstGeom prst="line">
            <a:avLst/>
          </a:prstGeom>
          <a:ln w="9525">
            <a:solidFill>
              <a:srgbClr val="C9C2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56032" y="4956994"/>
            <a:ext cx="11679631" cy="0"/>
          </a:xfrm>
          <a:prstGeom prst="line">
            <a:avLst/>
          </a:prstGeom>
          <a:ln w="9525">
            <a:solidFill>
              <a:srgbClr val="D9D3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256032" y="4956994"/>
            <a:ext cx="11679631" cy="366942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365760" y="4994161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9808" y="4956994"/>
            <a:ext cx="1591055" cy="3669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Deep Research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05456" y="4956994"/>
            <a:ext cx="3072384" cy="3669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02A2A"/>
                </a:solidFill>
                <a:latin typeface="Calibri"/>
              </a:rPr>
              <a:t>L9  </a:t>
            </a:r>
            <a:r>
              <a:rPr sz="1100" b="0" i="0">
                <a:solidFill>
                  <a:srgbClr val="22272E"/>
                </a:solidFill>
                <a:latin typeface="Calibri"/>
              </a:rPr>
              <a:t>Deep Research Agent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79008" y="4956994"/>
            <a:ext cx="2340864" cy="3669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B02A2A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72E"/>
                </a:solidFill>
                <a:latin typeface="Calibri"/>
              </a:rPr>
              <a:t>Deep Research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8339328" y="5103298"/>
            <a:ext cx="3468319" cy="0"/>
          </a:xfrm>
          <a:prstGeom prst="line">
            <a:avLst/>
          </a:prstGeom>
          <a:ln w="9525">
            <a:solidFill>
              <a:srgbClr val="C9C2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56032" y="5323937"/>
            <a:ext cx="11679631" cy="0"/>
          </a:xfrm>
          <a:prstGeom prst="line">
            <a:avLst/>
          </a:prstGeom>
          <a:ln w="9525">
            <a:solidFill>
              <a:srgbClr val="D9D3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365760" y="545088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9808" y="5323937"/>
            <a:ext cx="1591055" cy="5465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Cloud SDLC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505456" y="5323937"/>
            <a:ext cx="3072384" cy="5465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02A2A"/>
                </a:solidFill>
                <a:latin typeface="Calibri"/>
              </a:rPr>
              <a:t>L10  </a:t>
            </a:r>
            <a:r>
              <a:rPr sz="1100" b="0" i="0">
                <a:solidFill>
                  <a:srgbClr val="22272E"/>
                </a:solidFill>
                <a:latin typeface="Calibri"/>
              </a:rPr>
              <a:t>Cloud Operations Agent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02A2A"/>
                </a:solidFill>
                <a:latin typeface="Calibri"/>
              </a:rPr>
              <a:t>L11  </a:t>
            </a:r>
            <a:r>
              <a:rPr sz="1100" b="0" i="0">
                <a:solidFill>
                  <a:srgbClr val="22272E"/>
                </a:solidFill>
                <a:latin typeface="Calibri"/>
              </a:rPr>
              <a:t>Agentic SDLC Factory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02A2A"/>
                </a:solidFill>
                <a:latin typeface="Calibri"/>
              </a:rPr>
              <a:t>L12  </a:t>
            </a:r>
            <a:r>
              <a:rPr sz="1100" b="0" i="0">
                <a:solidFill>
                  <a:srgbClr val="22272E"/>
                </a:solidFill>
                <a:latin typeface="Calibri"/>
              </a:rPr>
              <a:t>Safety &amp; Governance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79008" y="5323937"/>
            <a:ext cx="2340864" cy="5465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B02A2A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72E"/>
                </a:solidFill>
                <a:latin typeface="Calibri"/>
              </a:rPr>
              <a:t>Cloud Agents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B02A2A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72E"/>
                </a:solidFill>
                <a:latin typeface="Calibri"/>
              </a:rPr>
              <a:t>Agentic SDLC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B02A2A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72E"/>
                </a:solidFill>
                <a:latin typeface="Calibri"/>
              </a:rPr>
              <a:t>Responsible Autonomy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8339328" y="5470241"/>
            <a:ext cx="3468319" cy="0"/>
          </a:xfrm>
          <a:prstGeom prst="line">
            <a:avLst/>
          </a:prstGeom>
          <a:ln w="9525">
            <a:solidFill>
              <a:srgbClr val="C9C2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8339328" y="5653121"/>
            <a:ext cx="3468319" cy="0"/>
          </a:xfrm>
          <a:prstGeom prst="line">
            <a:avLst/>
          </a:prstGeom>
          <a:ln w="9525">
            <a:solidFill>
              <a:srgbClr val="C9C2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56032" y="5870448"/>
            <a:ext cx="11679631" cy="0"/>
          </a:xfrm>
          <a:prstGeom prst="line">
            <a:avLst/>
          </a:prstGeom>
          <a:ln w="9525">
            <a:solidFill>
              <a:srgbClr val="D9D3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395728" y="2542032"/>
            <a:ext cx="0" cy="3328416"/>
          </a:xfrm>
          <a:prstGeom prst="line">
            <a:avLst/>
          </a:prstGeom>
          <a:ln w="9525">
            <a:solidFill>
              <a:srgbClr val="D9D3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5669280" y="2542032"/>
            <a:ext cx="0" cy="3328416"/>
          </a:xfrm>
          <a:prstGeom prst="line">
            <a:avLst/>
          </a:prstGeom>
          <a:ln w="9525">
            <a:solidFill>
              <a:srgbClr val="D9D3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211312" y="2542032"/>
            <a:ext cx="0" cy="3328416"/>
          </a:xfrm>
          <a:prstGeom prst="line">
            <a:avLst/>
          </a:prstGeom>
          <a:ln w="9525">
            <a:solidFill>
              <a:srgbClr val="D9D3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256032" y="2542032"/>
            <a:ext cx="11679631" cy="3328416"/>
          </a:xfrm>
          <a:prstGeom prst="rect">
            <a:avLst/>
          </a:prstGeom>
          <a:noFill/>
          <a:ln w="12700">
            <a:solidFill>
              <a:srgbClr val="C9C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256032" y="5961888"/>
            <a:ext cx="11679631" cy="512064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 w="9525">
            <a:solidFill>
              <a:srgbClr val="E4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38912" y="5961888"/>
            <a:ext cx="113138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B02A2A"/>
                </a:solidFill>
                <a:latin typeface="Calibri"/>
              </a:rPr>
              <a:t>CAPSTONE — integrates all 7 skills into the team-owned worklet:   </a:t>
            </a:r>
            <a:r>
              <a:rPr sz="1150" b="1" i="0">
                <a:solidFill>
                  <a:srgbClr val="1B2A4A"/>
                </a:solidFill>
                <a:latin typeface="Calibri"/>
              </a:rPr>
              <a:t>L13  </a:t>
            </a:r>
            <a:r>
              <a:rPr sz="1150" b="0" i="0">
                <a:solidFill>
                  <a:srgbClr val="22272E"/>
                </a:solidFill>
                <a:latin typeface="Calibri"/>
              </a:rPr>
              <a:t>Capstone Project Studio</a:t>
            </a:r>
            <a:r>
              <a:rPr sz="1150" b="1" i="0">
                <a:solidFill>
                  <a:srgbClr val="1B2A4A"/>
                </a:solidFill>
                <a:latin typeface="Calibri"/>
              </a:rPr>
              <a:t>      L14  </a:t>
            </a:r>
            <a:r>
              <a:rPr sz="1150" b="0" i="0">
                <a:solidFill>
                  <a:srgbClr val="22272E"/>
                </a:solidFill>
                <a:latin typeface="Calibri"/>
              </a:rPr>
              <a:t>Discipline-Specific Agents (ME / CE / EE)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56032" y="647395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1">
                <a:solidFill>
                  <a:srgbClr val="5A6270"/>
                </a:solidFill>
                <a:latin typeface="Calibri"/>
              </a:rPr>
              <a:t>All 14 labs + 12 core concepts mapped under the 7 skills.</a:t>
            </a:r>
            <a:r>
              <a:rPr sz="950" b="0" i="1">
                <a:solidFill>
                  <a:srgbClr val="5A6270"/>
                </a:solidFill>
                <a:latin typeface="Calibri"/>
              </a:rPr>
              <a:t>   ·   Worklets shared with student teams in Week 3.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058400" y="6473952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A6270"/>
                </a:solidFill>
                <a:latin typeface="Calibri"/>
              </a:rPr>
              <a:t>KLE Technological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-100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274320"/>
            <a:ext cx="1691640" cy="3669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237744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B02A2A"/>
                </a:solidFill>
                <a:latin typeface="Calibri"/>
              </a:rPr>
              <a:t>AGENTIC AI  (26ECAC401)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45720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1B2A4A"/>
                </a:solidFill>
                <a:latin typeface="Calibri"/>
              </a:rPr>
              <a:t>Team Worklet </a:t>
            </a:r>
            <a:r>
              <a:rPr sz="2600" b="1" i="0">
                <a:solidFill>
                  <a:srgbClr val="B02A2A"/>
                </a:solidFill>
                <a:latin typeface="Calibri"/>
              </a:rPr>
              <a:t>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96926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1">
                <a:solidFill>
                  <a:srgbClr val="5A6270"/>
                </a:solidFill>
                <a:latin typeface="Calibri"/>
              </a:rPr>
              <a:t>Worked example — “Campus Energy-Saver” (Team Volt)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" y="1298448"/>
            <a:ext cx="11679631" cy="603504"/>
          </a:xfrm>
          <a:prstGeom prst="roundRect">
            <a:avLst>
              <a:gd name="adj" fmla="val 4000"/>
            </a:avLst>
          </a:prstGeom>
          <a:solidFill>
            <a:srgbClr val="F6F4F0"/>
          </a:solidFill>
          <a:ln w="9525">
            <a:solidFill>
              <a:srgbClr val="D9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38988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B02A2A"/>
                </a:solidFill>
                <a:latin typeface="Calibri"/>
              </a:rP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55448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B2A4A"/>
                </a:solidFill>
                <a:latin typeface="Calibri"/>
              </a:rPr>
              <a:t>Team Volt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38988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B02A2A"/>
                </a:solidFill>
                <a:latin typeface="Calibri"/>
              </a:rPr>
              <a:t>DISCIPLINE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55448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B2A4A"/>
                </a:solidFill>
                <a:latin typeface="Calibri"/>
              </a:rPr>
              <a:t>EE / Civil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38988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B02A2A"/>
                </a:solidFill>
                <a:latin typeface="Calibri"/>
              </a:rPr>
              <a:t>WORKLET  —  one-line 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554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B2A4A"/>
                </a:solidFill>
                <a:latin typeface="Calibri"/>
              </a:rPr>
              <a:t>Cut campus building energy use — monitor meters, diagnose waste, recommend fixes with human approval.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" y="202996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B2A4A"/>
                </a:solidFill>
                <a:latin typeface="Calibri"/>
              </a:rPr>
              <a:t>AGENT LOOP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91640" y="2011680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Goal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18688" y="2167128"/>
            <a:ext cx="310896" cy="0"/>
          </a:xfrm>
          <a:prstGeom prst="line">
            <a:avLst/>
          </a:prstGeom>
          <a:ln w="25400">
            <a:solidFill>
              <a:srgbClr val="B02A2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557016" y="2011680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84064" y="2167128"/>
            <a:ext cx="310895" cy="0"/>
          </a:xfrm>
          <a:prstGeom prst="line">
            <a:avLst/>
          </a:prstGeom>
          <a:ln w="25400">
            <a:solidFill>
              <a:srgbClr val="B02A2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422392" y="2011680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49440" y="2167128"/>
            <a:ext cx="310896" cy="0"/>
          </a:xfrm>
          <a:prstGeom prst="line">
            <a:avLst/>
          </a:prstGeom>
          <a:ln w="25400">
            <a:solidFill>
              <a:srgbClr val="B02A2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287768" y="2011680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Observe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14816" y="2167128"/>
            <a:ext cx="310896" cy="0"/>
          </a:xfrm>
          <a:prstGeom prst="line">
            <a:avLst/>
          </a:prstGeom>
          <a:ln w="25400">
            <a:solidFill>
              <a:srgbClr val="B02A2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53144" y="2011680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Improve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" y="2542032"/>
            <a:ext cx="11679631" cy="31089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569463"/>
            <a:ext cx="195681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7 SKILLS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05456" y="2569463"/>
            <a:ext cx="30906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14 HANDS-ON LABS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9008" y="2569463"/>
            <a:ext cx="23591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CORE CONCEPTS COVERED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569463"/>
            <a:ext cx="354147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HOW OUR WORKLET ADDRESSES 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2934987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852927"/>
            <a:ext cx="1591055" cy="4567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05456" y="2852927"/>
            <a:ext cx="3072384" cy="4567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02A2A"/>
                </a:solidFill>
                <a:latin typeface="Calibri"/>
              </a:rPr>
              <a:t>L1  </a:t>
            </a:r>
            <a:r>
              <a:rPr sz="1100" b="0" i="0">
                <a:solidFill>
                  <a:srgbClr val="22272E"/>
                </a:solidFill>
                <a:latin typeface="Calibri"/>
              </a:rPr>
              <a:t>Agent vs Chatbot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02A2A"/>
                </a:solidFill>
                <a:latin typeface="Calibri"/>
              </a:rPr>
              <a:t>L2  </a:t>
            </a:r>
            <a:r>
              <a:rPr sz="1100" b="0" i="0">
                <a:solidFill>
                  <a:srgbClr val="22272E"/>
                </a:solidFill>
                <a:latin typeface="Calibri"/>
              </a:rPr>
              <a:t>Tool-Using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79008" y="2852927"/>
            <a:ext cx="2340864" cy="4567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B02A2A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72E"/>
                </a:solidFill>
                <a:latin typeface="Calibri"/>
              </a:rPr>
              <a:t>Agent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B02A2A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72E"/>
                </a:solidFill>
                <a:latin typeface="Calibri"/>
              </a:rPr>
              <a:t>Tools &amp; Function Calling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8" y="2852927"/>
            <a:ext cx="3486607" cy="4567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72E"/>
                </a:solidFill>
                <a:latin typeface="Calibri"/>
              </a:rPr>
              <a:t>Energy-Saver agent plans &amp; revises meter checks — not a Q&amp;A bot; calls meter + weather tools.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56032" y="3309654"/>
            <a:ext cx="11679631" cy="0"/>
          </a:xfrm>
          <a:prstGeom prst="line">
            <a:avLst/>
          </a:prstGeom>
          <a:ln w="9525">
            <a:solidFill>
              <a:srgbClr val="D9D3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56032" y="3309654"/>
            <a:ext cx="11679631" cy="456726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65760" y="339171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3309654"/>
            <a:ext cx="1591055" cy="4567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Skills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05456" y="3309654"/>
            <a:ext cx="3072384" cy="4567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02A2A"/>
                </a:solidFill>
                <a:latin typeface="Calibri"/>
              </a:rPr>
              <a:t>L3  </a:t>
            </a:r>
            <a:r>
              <a:rPr sz="1100" b="0" i="0">
                <a:solidFill>
                  <a:srgbClr val="22272E"/>
                </a:solidFill>
                <a:latin typeface="Calibri"/>
              </a:rPr>
              <a:t>Skill Creation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02A2A"/>
                </a:solidFill>
                <a:latin typeface="Calibri"/>
              </a:rPr>
              <a:t>L4  </a:t>
            </a:r>
            <a:r>
              <a:rPr sz="1100" b="0" i="0">
                <a:solidFill>
                  <a:srgbClr val="22272E"/>
                </a:solidFill>
                <a:latin typeface="Calibri"/>
              </a:rPr>
              <a:t>Memory &amp; Retrieval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79008" y="3309654"/>
            <a:ext cx="2340864" cy="4567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B02A2A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72E"/>
                </a:solidFill>
                <a:latin typeface="Calibri"/>
              </a:rPr>
              <a:t>Skills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B02A2A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72E"/>
                </a:solidFill>
                <a:latin typeface="Calibri"/>
              </a:rPr>
              <a:t>Memory &amp; Context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8" y="3309654"/>
            <a:ext cx="3486607" cy="4567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72E"/>
                </a:solidFill>
                <a:latin typeface="Calibri"/>
              </a:rPr>
              <a:t>Reusable “energy-audit summary” skill; remembers each building’s baseline load between runs.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56032" y="3766381"/>
            <a:ext cx="11679631" cy="0"/>
          </a:xfrm>
          <a:prstGeom prst="line">
            <a:avLst/>
          </a:prstGeom>
          <a:ln w="9525">
            <a:solidFill>
              <a:srgbClr val="D9D3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365760" y="3803549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3766381"/>
            <a:ext cx="1591055" cy="3669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MCP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05456" y="3766381"/>
            <a:ext cx="3072384" cy="3669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02A2A"/>
                </a:solidFill>
                <a:latin typeface="Calibri"/>
              </a:rPr>
              <a:t>L5  </a:t>
            </a:r>
            <a:r>
              <a:rPr sz="1100" b="0" i="0">
                <a:solidFill>
                  <a:srgbClr val="22272E"/>
                </a:solidFill>
                <a:latin typeface="Calibri"/>
              </a:rPr>
              <a:t>MCP-Style Connector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79008" y="3766381"/>
            <a:ext cx="2340864" cy="3669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B02A2A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72E"/>
                </a:solidFill>
                <a:latin typeface="Calibri"/>
              </a:rPr>
              <a:t>MCP Connector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328" y="3766381"/>
            <a:ext cx="3486607" cy="3669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72E"/>
                </a:solidFill>
                <a:latin typeface="Calibri"/>
              </a:rPr>
              <a:t>One MCP connector exposes BMS files + SQLite meter DB + weather API to the agent.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56032" y="4133324"/>
            <a:ext cx="11679631" cy="0"/>
          </a:xfrm>
          <a:prstGeom prst="line">
            <a:avLst/>
          </a:prstGeom>
          <a:ln w="9525">
            <a:solidFill>
              <a:srgbClr val="D9D3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256032" y="4133324"/>
            <a:ext cx="11679631" cy="366942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65760" y="417049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8" y="4133324"/>
            <a:ext cx="1591055" cy="3669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OpenCLA / OpenClaw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05456" y="4133324"/>
            <a:ext cx="3072384" cy="3669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02A2A"/>
                </a:solidFill>
                <a:latin typeface="Calibri"/>
              </a:rPr>
              <a:t>L6  </a:t>
            </a:r>
            <a:r>
              <a:rPr sz="1100" b="0" i="0">
                <a:solidFill>
                  <a:srgbClr val="22272E"/>
                </a:solidFill>
                <a:latin typeface="Calibri"/>
              </a:rPr>
              <a:t>OpenCLA/OpenClaw Runtime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79008" y="4133324"/>
            <a:ext cx="2340864" cy="3669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B02A2A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72E"/>
                </a:solidFill>
                <a:latin typeface="Calibri"/>
              </a:rPr>
              <a:t>OpenCLA/OpenClaw Runtime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9328" y="4133324"/>
            <a:ext cx="3486607" cy="3669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72E"/>
                </a:solidFill>
                <a:latin typeface="Calibri"/>
              </a:rPr>
              <a:t>Runs 24×7 on the runtime; every recommendation written to an audit log with the trigger data.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256032" y="4500267"/>
            <a:ext cx="11679631" cy="0"/>
          </a:xfrm>
          <a:prstGeom prst="line">
            <a:avLst/>
          </a:prstGeom>
          <a:ln w="9525">
            <a:solidFill>
              <a:srgbClr val="D9D3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65760" y="458232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808" y="4500267"/>
            <a:ext cx="1591055" cy="4567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Swarms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05456" y="4500267"/>
            <a:ext cx="3072384" cy="4567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02A2A"/>
                </a:solidFill>
                <a:latin typeface="Calibri"/>
              </a:rPr>
              <a:t>L7  </a:t>
            </a:r>
            <a:r>
              <a:rPr sz="1100" b="0" i="0">
                <a:solidFill>
                  <a:srgbClr val="22272E"/>
                </a:solidFill>
                <a:latin typeface="Calibri"/>
              </a:rPr>
              <a:t>Agentic Node Graph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02A2A"/>
                </a:solidFill>
                <a:latin typeface="Calibri"/>
              </a:rPr>
              <a:t>L8  </a:t>
            </a:r>
            <a:r>
              <a:rPr sz="1100" b="0" i="0">
                <a:solidFill>
                  <a:srgbClr val="22272E"/>
                </a:solidFill>
                <a:latin typeface="Calibri"/>
              </a:rPr>
              <a:t>Parallel Swarm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79008" y="4500267"/>
            <a:ext cx="2340864" cy="4567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B02A2A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72E"/>
                </a:solidFill>
                <a:latin typeface="Calibri"/>
              </a:rPr>
              <a:t>Node Graphs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B02A2A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72E"/>
                </a:solidFill>
                <a:latin typeface="Calibri"/>
              </a:rPr>
              <a:t>Parallel Swarms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39328" y="4500267"/>
            <a:ext cx="3486607" cy="4567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72E"/>
                </a:solidFill>
                <a:latin typeface="Calibri"/>
              </a:rPr>
              <a:t>Node graph sense→diagnose→advise; one agent per building runs in parallel, results merged.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6032" y="4956994"/>
            <a:ext cx="11679631" cy="0"/>
          </a:xfrm>
          <a:prstGeom prst="line">
            <a:avLst/>
          </a:prstGeom>
          <a:ln w="9525">
            <a:solidFill>
              <a:srgbClr val="D9D3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256032" y="4956994"/>
            <a:ext cx="11679631" cy="366942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65760" y="4994161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8" y="4956994"/>
            <a:ext cx="1591055" cy="3669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Deep Research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05456" y="4956994"/>
            <a:ext cx="3072384" cy="3669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02A2A"/>
                </a:solidFill>
                <a:latin typeface="Calibri"/>
              </a:rPr>
              <a:t>L9  </a:t>
            </a:r>
            <a:r>
              <a:rPr sz="1100" b="0" i="0">
                <a:solidFill>
                  <a:srgbClr val="22272E"/>
                </a:solidFill>
                <a:latin typeface="Calibri"/>
              </a:rPr>
              <a:t>Deep Research Agent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79008" y="4956994"/>
            <a:ext cx="2340864" cy="3669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B02A2A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72E"/>
                </a:solidFill>
                <a:latin typeface="Calibri"/>
              </a:rPr>
              <a:t>Deep Research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39328" y="4956994"/>
            <a:ext cx="3486607" cy="3669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72E"/>
                </a:solidFill>
                <a:latin typeface="Calibri"/>
              </a:rPr>
              <a:t>Briefs the best retrofit options with an evidence table (LED, VFD, insulation) and citations.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256032" y="5323937"/>
            <a:ext cx="11679631" cy="0"/>
          </a:xfrm>
          <a:prstGeom prst="line">
            <a:avLst/>
          </a:prstGeom>
          <a:ln w="9525">
            <a:solidFill>
              <a:srgbClr val="D9D3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365760" y="545088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9808" y="5323937"/>
            <a:ext cx="1591055" cy="5465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Cloud SDLC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505456" y="5323937"/>
            <a:ext cx="3072384" cy="5465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02A2A"/>
                </a:solidFill>
                <a:latin typeface="Calibri"/>
              </a:rPr>
              <a:t>L10  </a:t>
            </a:r>
            <a:r>
              <a:rPr sz="1100" b="0" i="0">
                <a:solidFill>
                  <a:srgbClr val="22272E"/>
                </a:solidFill>
                <a:latin typeface="Calibri"/>
              </a:rPr>
              <a:t>Cloud Operations Agent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02A2A"/>
                </a:solidFill>
                <a:latin typeface="Calibri"/>
              </a:rPr>
              <a:t>L11  </a:t>
            </a:r>
            <a:r>
              <a:rPr sz="1100" b="0" i="0">
                <a:solidFill>
                  <a:srgbClr val="22272E"/>
                </a:solidFill>
                <a:latin typeface="Calibri"/>
              </a:rPr>
              <a:t>Agentic SDLC Factory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02A2A"/>
                </a:solidFill>
                <a:latin typeface="Calibri"/>
              </a:rPr>
              <a:t>L12  </a:t>
            </a:r>
            <a:r>
              <a:rPr sz="1100" b="0" i="0">
                <a:solidFill>
                  <a:srgbClr val="22272E"/>
                </a:solidFill>
                <a:latin typeface="Calibri"/>
              </a:rPr>
              <a:t>Safety &amp; Governance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79008" y="5323937"/>
            <a:ext cx="2340864" cy="5465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B02A2A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72E"/>
                </a:solidFill>
                <a:latin typeface="Calibri"/>
              </a:rPr>
              <a:t>Cloud Agents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B02A2A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72E"/>
                </a:solidFill>
                <a:latin typeface="Calibri"/>
              </a:rPr>
              <a:t>Agentic SDLC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B02A2A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72E"/>
                </a:solidFill>
                <a:latin typeface="Calibri"/>
              </a:rPr>
              <a:t>Responsible Autonomy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39328" y="5323937"/>
            <a:ext cx="3486607" cy="5465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72E"/>
                </a:solidFill>
                <a:latin typeface="Calibri"/>
              </a:rPr>
              <a:t>Diagnoses a failed sensor deploy; ships a tested fix; risk/approval/rollback before any control action.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256032" y="5870448"/>
            <a:ext cx="11679631" cy="0"/>
          </a:xfrm>
          <a:prstGeom prst="line">
            <a:avLst/>
          </a:prstGeom>
          <a:ln w="9525">
            <a:solidFill>
              <a:srgbClr val="D9D3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395728" y="2542032"/>
            <a:ext cx="0" cy="3328416"/>
          </a:xfrm>
          <a:prstGeom prst="line">
            <a:avLst/>
          </a:prstGeom>
          <a:ln w="9525">
            <a:solidFill>
              <a:srgbClr val="D9D3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669280" y="2542032"/>
            <a:ext cx="0" cy="3328416"/>
          </a:xfrm>
          <a:prstGeom prst="line">
            <a:avLst/>
          </a:prstGeom>
          <a:ln w="9525">
            <a:solidFill>
              <a:srgbClr val="D9D3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8211312" y="2542032"/>
            <a:ext cx="0" cy="3328416"/>
          </a:xfrm>
          <a:prstGeom prst="line">
            <a:avLst/>
          </a:prstGeom>
          <a:ln w="9525">
            <a:solidFill>
              <a:srgbClr val="D9D3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256032" y="2542032"/>
            <a:ext cx="11679631" cy="3328416"/>
          </a:xfrm>
          <a:prstGeom prst="rect">
            <a:avLst/>
          </a:prstGeom>
          <a:noFill/>
          <a:ln w="12700">
            <a:solidFill>
              <a:srgbClr val="C9C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256032" y="5961888"/>
            <a:ext cx="11679631" cy="512064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 w="9525">
            <a:solidFill>
              <a:srgbClr val="E4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38912" y="5961888"/>
            <a:ext cx="113138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B02A2A"/>
                </a:solidFill>
                <a:latin typeface="Calibri"/>
              </a:rPr>
              <a:t>CAPSTONE — integrates all 7 skills into the team-owned worklet:   </a:t>
            </a:r>
            <a:r>
              <a:rPr sz="1150" b="1" i="0">
                <a:solidFill>
                  <a:srgbClr val="1B2A4A"/>
                </a:solidFill>
                <a:latin typeface="Calibri"/>
              </a:rPr>
              <a:t>L13  </a:t>
            </a:r>
            <a:r>
              <a:rPr sz="1150" b="0" i="0">
                <a:solidFill>
                  <a:srgbClr val="22272E"/>
                </a:solidFill>
                <a:latin typeface="Calibri"/>
              </a:rPr>
              <a:t>Capstone Project Studio</a:t>
            </a:r>
            <a:r>
              <a:rPr sz="1150" b="1" i="0">
                <a:solidFill>
                  <a:srgbClr val="1B2A4A"/>
                </a:solidFill>
                <a:latin typeface="Calibri"/>
              </a:rPr>
              <a:t>      L14  </a:t>
            </a:r>
            <a:r>
              <a:rPr sz="1150" b="0" i="0">
                <a:solidFill>
                  <a:srgbClr val="22272E"/>
                </a:solidFill>
                <a:latin typeface="Calibri"/>
              </a:rPr>
              <a:t>Discipline-Specific Agents (ME / CE / EE)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6032" y="647395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1">
                <a:solidFill>
                  <a:srgbClr val="5A6270"/>
                </a:solidFill>
                <a:latin typeface="Calibri"/>
              </a:rPr>
              <a:t>All 14 labs + 12 core concepts mapped under the 7 skills.</a:t>
            </a:r>
            <a:r>
              <a:rPr sz="950" b="0" i="1">
                <a:solidFill>
                  <a:srgbClr val="5A6270"/>
                </a:solidFill>
                <a:latin typeface="Calibri"/>
              </a:rPr>
              <a:t>   ·   Worklets shared with student teams in Week 3.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058400" y="6473952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A6270"/>
                </a:solidFill>
                <a:latin typeface="Calibri"/>
              </a:rPr>
              <a:t>KLE Technological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