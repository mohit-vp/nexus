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AD572B-FD15-4BD0-B333-D8A93CE1207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1699C28-832D-4FFF-9867-F77625C96C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BA01D8-2482-4ADC-A225-8476CFB605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075387-5741-4656-AEDB-D5BE6ECCB4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9D3CC3-5FCF-4A93-8DE5-2BD7CE1665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943682-BC71-4128-8A99-025D2A312F1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EB8C6F-E233-4303-ADF2-641A77613A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B240CD-20CC-4C5E-9E3D-204B1A6553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6FD29E7-127A-4C54-8476-B4142840DB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7DCCBC-C62A-4E6E-90FC-0510BF3D60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279920-207D-4C8E-A477-16533D0A88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-1002-1.png"/>
          <p:cNvPicPr/>
          <p:nvPr/>
        </p:nvPicPr>
        <p:blipFill>
          <a:blip r:embed="rId1"/>
          <a:stretch/>
        </p:blipFill>
        <p:spPr>
          <a:xfrm>
            <a:off x="10088640" y="274320"/>
            <a:ext cx="1691280" cy="366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TextBox 2"/>
          <p:cNvSpPr/>
          <p:nvPr/>
        </p:nvSpPr>
        <p:spPr>
          <a:xfrm>
            <a:off x="255960" y="23760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2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AGENTIC AI  (26ECAC401)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255960" y="457200"/>
            <a:ext cx="8686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26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Team Worklet </a:t>
            </a:r>
            <a:r>
              <a:rPr lang="en-US" sz="26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Canvas</a:t>
            </a:r>
            <a:endParaRPr lang="en-GB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255960" y="96912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Placement Readiness &amp; Career Intelligence Portal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Rounded Rectangle 5"/>
          <p:cNvSpPr/>
          <p:nvPr/>
        </p:nvSpPr>
        <p:spPr>
          <a:xfrm>
            <a:off x="255960" y="1298520"/>
            <a:ext cx="11679120" cy="603000"/>
          </a:xfrm>
          <a:prstGeom prst="roundRect">
            <a:avLst>
              <a:gd name="adj" fmla="val 4000"/>
            </a:avLst>
          </a:prstGeom>
          <a:solidFill>
            <a:srgbClr val="F6F4F0"/>
          </a:solidFill>
          <a:ln>
            <a:solidFill>
              <a:srgbClr val="D9D3C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384120" y="138996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05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TEAM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Connector 7"/>
          <p:cNvCxnSpPr/>
          <p:nvPr/>
        </p:nvCxnSpPr>
        <p:spPr>
          <a:xfrm>
            <a:off x="383760" y="1773720"/>
            <a:ext cx="1874880" cy="360"/>
          </a:xfrm>
          <a:prstGeom prst="straightConnector1">
            <a:avLst/>
          </a:prstGeom>
          <a:ln w="12700">
            <a:solidFill>
              <a:srgbClr val="B9B2A8"/>
            </a:solidFill>
            <a:round/>
          </a:ln>
        </p:spPr>
      </p:cxnSp>
      <p:sp>
        <p:nvSpPr>
          <p:cNvPr id="68" name="TextBox 8"/>
          <p:cNvSpPr/>
          <p:nvPr/>
        </p:nvSpPr>
        <p:spPr>
          <a:xfrm>
            <a:off x="2514600" y="1389960"/>
            <a:ext cx="274284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05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DISCIPLINE  (ME / CE / EE)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9"/>
          <p:cNvCxnSpPr/>
          <p:nvPr/>
        </p:nvCxnSpPr>
        <p:spPr>
          <a:xfrm>
            <a:off x="2514600" y="1773720"/>
            <a:ext cx="2606400" cy="360"/>
          </a:xfrm>
          <a:prstGeom prst="straightConnector1">
            <a:avLst/>
          </a:prstGeom>
          <a:ln w="12700">
            <a:solidFill>
              <a:srgbClr val="B9B2A8"/>
            </a:solidFill>
            <a:round/>
          </a:ln>
        </p:spPr>
      </p:cxnSp>
      <p:sp>
        <p:nvSpPr>
          <p:cNvPr id="70" name="TextBox 10"/>
          <p:cNvSpPr/>
          <p:nvPr/>
        </p:nvSpPr>
        <p:spPr>
          <a:xfrm>
            <a:off x="5394960" y="1389960"/>
            <a:ext cx="63090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05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WORKLET  —  one-line goal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1" name="Connector 11"/>
          <p:cNvCxnSpPr/>
          <p:nvPr/>
        </p:nvCxnSpPr>
        <p:spPr>
          <a:xfrm>
            <a:off x="5394960" y="1773720"/>
            <a:ext cx="6172560" cy="360"/>
          </a:xfrm>
          <a:prstGeom prst="straightConnector1">
            <a:avLst/>
          </a:prstGeom>
          <a:ln w="12700">
            <a:solidFill>
              <a:srgbClr val="B9B2A8"/>
            </a:solidFill>
            <a:round/>
          </a:ln>
        </p:spPr>
      </p:cxnSp>
      <p:sp>
        <p:nvSpPr>
          <p:cNvPr id="72" name="TextBox 12"/>
          <p:cNvSpPr/>
          <p:nvPr/>
        </p:nvSpPr>
        <p:spPr>
          <a:xfrm>
            <a:off x="255960" y="2030040"/>
            <a:ext cx="137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AGENT LOOP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3"/>
          <p:cNvSpPr/>
          <p:nvPr/>
        </p:nvSpPr>
        <p:spPr>
          <a:xfrm>
            <a:off x="1691640" y="2011680"/>
            <a:ext cx="1481040" cy="31068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Goal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4" name="Connector 14"/>
          <p:cNvCxnSpPr/>
          <p:nvPr/>
        </p:nvCxnSpPr>
        <p:spPr>
          <a:xfrm>
            <a:off x="3218400" y="2166840"/>
            <a:ext cx="311400" cy="360"/>
          </a:xfrm>
          <a:prstGeom prst="straightConnector1">
            <a:avLst/>
          </a:prstGeom>
          <a:ln>
            <a:solidFill>
              <a:srgbClr val="B02A2A"/>
            </a:solidFill>
            <a:round/>
            <a:tailEnd len="med" type="triangle" w="med"/>
          </a:ln>
        </p:spPr>
      </p:cxnSp>
      <p:sp>
        <p:nvSpPr>
          <p:cNvPr id="75" name="Rounded Rectangle 15"/>
          <p:cNvSpPr/>
          <p:nvPr/>
        </p:nvSpPr>
        <p:spPr>
          <a:xfrm>
            <a:off x="3557160" y="2011680"/>
            <a:ext cx="1481040" cy="31068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Plan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Connector 16"/>
          <p:cNvCxnSpPr/>
          <p:nvPr/>
        </p:nvCxnSpPr>
        <p:spPr>
          <a:xfrm>
            <a:off x="5083920" y="2166840"/>
            <a:ext cx="311040" cy="360"/>
          </a:xfrm>
          <a:prstGeom prst="straightConnector1">
            <a:avLst/>
          </a:prstGeom>
          <a:ln>
            <a:solidFill>
              <a:srgbClr val="B02A2A"/>
            </a:solidFill>
            <a:round/>
            <a:tailEnd len="med" type="triangle" w="med"/>
          </a:ln>
        </p:spPr>
      </p:cxnSp>
      <p:sp>
        <p:nvSpPr>
          <p:cNvPr id="77" name="Rounded Rectangle 17"/>
          <p:cNvSpPr/>
          <p:nvPr/>
        </p:nvSpPr>
        <p:spPr>
          <a:xfrm>
            <a:off x="5422320" y="2011680"/>
            <a:ext cx="1481040" cy="31068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Act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78" name="Connector 18"/>
          <p:cNvCxnSpPr/>
          <p:nvPr/>
        </p:nvCxnSpPr>
        <p:spPr>
          <a:xfrm>
            <a:off x="6949440" y="2166840"/>
            <a:ext cx="311040" cy="360"/>
          </a:xfrm>
          <a:prstGeom prst="straightConnector1">
            <a:avLst/>
          </a:prstGeom>
          <a:ln>
            <a:solidFill>
              <a:srgbClr val="B02A2A"/>
            </a:solidFill>
            <a:round/>
            <a:tailEnd len="med" type="triangle" w="med"/>
          </a:ln>
        </p:spPr>
      </p:cxnSp>
      <p:sp>
        <p:nvSpPr>
          <p:cNvPr id="79" name="Rounded Rectangle 19"/>
          <p:cNvSpPr/>
          <p:nvPr/>
        </p:nvSpPr>
        <p:spPr>
          <a:xfrm>
            <a:off x="7287840" y="2011680"/>
            <a:ext cx="1481040" cy="31068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Observe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Connector 20"/>
          <p:cNvCxnSpPr/>
          <p:nvPr/>
        </p:nvCxnSpPr>
        <p:spPr>
          <a:xfrm>
            <a:off x="8814600" y="2166840"/>
            <a:ext cx="311400" cy="360"/>
          </a:xfrm>
          <a:prstGeom prst="straightConnector1">
            <a:avLst/>
          </a:prstGeom>
          <a:ln>
            <a:solidFill>
              <a:srgbClr val="B02A2A"/>
            </a:solidFill>
            <a:round/>
            <a:tailEnd len="med" type="triangle" w="med"/>
          </a:ln>
        </p:spPr>
      </p:cxnSp>
      <p:sp>
        <p:nvSpPr>
          <p:cNvPr id="81" name="Rounded Rectangle 21"/>
          <p:cNvSpPr/>
          <p:nvPr/>
        </p:nvSpPr>
        <p:spPr>
          <a:xfrm>
            <a:off x="9153000" y="2011680"/>
            <a:ext cx="1481040" cy="31068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000" rIns="90000" bIns="9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Improve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22"/>
          <p:cNvSpPr/>
          <p:nvPr/>
        </p:nvSpPr>
        <p:spPr>
          <a:xfrm>
            <a:off x="255960" y="2541960"/>
            <a:ext cx="11679120" cy="310680"/>
          </a:xfrm>
          <a:prstGeom prst="rect">
            <a:avLst/>
          </a:prstGeom>
          <a:solidFill>
            <a:srgbClr val="1B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23"/>
          <p:cNvSpPr/>
          <p:nvPr/>
        </p:nvSpPr>
        <p:spPr>
          <a:xfrm>
            <a:off x="365760" y="2569320"/>
            <a:ext cx="195660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 SKILLS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24"/>
          <p:cNvSpPr/>
          <p:nvPr/>
        </p:nvSpPr>
        <p:spPr>
          <a:xfrm>
            <a:off x="2505600" y="2569320"/>
            <a:ext cx="309024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14 HANDS-ON LABS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25"/>
          <p:cNvSpPr/>
          <p:nvPr/>
        </p:nvSpPr>
        <p:spPr>
          <a:xfrm>
            <a:off x="5779080" y="2569320"/>
            <a:ext cx="23587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CORE CONCEPTS COVERED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26"/>
          <p:cNvSpPr/>
          <p:nvPr/>
        </p:nvSpPr>
        <p:spPr>
          <a:xfrm>
            <a:off x="8321040" y="2569320"/>
            <a:ext cx="35409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  <a:spcAft>
                <a:spcPts val="99"/>
              </a:spcAf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 OUR WORKLET ADDRESSES 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27"/>
          <p:cNvSpPr/>
          <p:nvPr/>
        </p:nvSpPr>
        <p:spPr>
          <a:xfrm>
            <a:off x="365760" y="293508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8"/>
          <p:cNvSpPr/>
          <p:nvPr/>
        </p:nvSpPr>
        <p:spPr>
          <a:xfrm>
            <a:off x="749880" y="2853000"/>
            <a:ext cx="1590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Agents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9"/>
          <p:cNvSpPr/>
          <p:nvPr/>
        </p:nvSpPr>
        <p:spPr>
          <a:xfrm>
            <a:off x="2505600" y="2853000"/>
            <a:ext cx="3071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L1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Agent vs Chatbot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L2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Tool-Using Agent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30"/>
          <p:cNvSpPr/>
          <p:nvPr/>
        </p:nvSpPr>
        <p:spPr>
          <a:xfrm>
            <a:off x="5779080" y="2853000"/>
            <a:ext cx="2340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Agent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Tools &amp; Function Calling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Connector 31"/>
          <p:cNvCxnSpPr/>
          <p:nvPr/>
        </p:nvCxnSpPr>
        <p:spPr>
          <a:xfrm>
            <a:off x="8339040" y="299916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92" name="Connector 32"/>
          <p:cNvCxnSpPr/>
          <p:nvPr/>
        </p:nvCxnSpPr>
        <p:spPr>
          <a:xfrm>
            <a:off x="8339040" y="318204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93" name="Connector 33"/>
          <p:cNvCxnSpPr/>
          <p:nvPr/>
        </p:nvCxnSpPr>
        <p:spPr>
          <a:xfrm>
            <a:off x="255960" y="330948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94" name="Rectangle 34"/>
          <p:cNvSpPr/>
          <p:nvPr/>
        </p:nvSpPr>
        <p:spPr>
          <a:xfrm>
            <a:off x="255960" y="3309480"/>
            <a:ext cx="11679120" cy="456480"/>
          </a:xfrm>
          <a:prstGeom prst="rect">
            <a:avLst/>
          </a:prstGeom>
          <a:solidFill>
            <a:srgbClr val="F7F5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Rounded Rectangle 35"/>
          <p:cNvSpPr/>
          <p:nvPr/>
        </p:nvSpPr>
        <p:spPr>
          <a:xfrm>
            <a:off x="365760" y="339156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36"/>
          <p:cNvSpPr/>
          <p:nvPr/>
        </p:nvSpPr>
        <p:spPr>
          <a:xfrm>
            <a:off x="749880" y="3309480"/>
            <a:ext cx="1590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Skills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7"/>
          <p:cNvSpPr/>
          <p:nvPr/>
        </p:nvSpPr>
        <p:spPr>
          <a:xfrm>
            <a:off x="2505600" y="3309480"/>
            <a:ext cx="3071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L3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Skill Creation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L4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Memory &amp; Retrieval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38"/>
          <p:cNvSpPr/>
          <p:nvPr/>
        </p:nvSpPr>
        <p:spPr>
          <a:xfrm>
            <a:off x="5779080" y="3309480"/>
            <a:ext cx="2340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Skills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Memory &amp; Context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" name="Connector 39"/>
          <p:cNvCxnSpPr/>
          <p:nvPr/>
        </p:nvCxnSpPr>
        <p:spPr>
          <a:xfrm>
            <a:off x="8339040" y="345564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00" name="Connector 40"/>
          <p:cNvCxnSpPr/>
          <p:nvPr/>
        </p:nvCxnSpPr>
        <p:spPr>
          <a:xfrm>
            <a:off x="8339040" y="363852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01" name="Connector 41"/>
          <p:cNvCxnSpPr/>
          <p:nvPr/>
        </p:nvCxnSpPr>
        <p:spPr>
          <a:xfrm>
            <a:off x="255960" y="376632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102" name="Rounded Rectangle 42"/>
          <p:cNvSpPr/>
          <p:nvPr/>
        </p:nvSpPr>
        <p:spPr>
          <a:xfrm>
            <a:off x="365760" y="380340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43"/>
          <p:cNvSpPr/>
          <p:nvPr/>
        </p:nvSpPr>
        <p:spPr>
          <a:xfrm>
            <a:off x="749880" y="3766320"/>
            <a:ext cx="1590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MCP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44"/>
          <p:cNvSpPr/>
          <p:nvPr/>
        </p:nvSpPr>
        <p:spPr>
          <a:xfrm>
            <a:off x="2505600" y="3766320"/>
            <a:ext cx="30718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L5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MCP-Style Connector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5"/>
          <p:cNvSpPr/>
          <p:nvPr/>
        </p:nvSpPr>
        <p:spPr>
          <a:xfrm>
            <a:off x="5779080" y="3766320"/>
            <a:ext cx="23403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MCP Connector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" name="Connector 46"/>
          <p:cNvCxnSpPr/>
          <p:nvPr/>
        </p:nvCxnSpPr>
        <p:spPr>
          <a:xfrm>
            <a:off x="8339040" y="391248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07" name="Connector 47"/>
          <p:cNvCxnSpPr/>
          <p:nvPr/>
        </p:nvCxnSpPr>
        <p:spPr>
          <a:xfrm>
            <a:off x="255960" y="413316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108" name="Rectangle 48"/>
          <p:cNvSpPr/>
          <p:nvPr/>
        </p:nvSpPr>
        <p:spPr>
          <a:xfrm>
            <a:off x="255960" y="4133160"/>
            <a:ext cx="11679120" cy="366480"/>
          </a:xfrm>
          <a:prstGeom prst="rect">
            <a:avLst/>
          </a:prstGeom>
          <a:solidFill>
            <a:srgbClr val="F7F5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Rounded Rectangle 49"/>
          <p:cNvSpPr/>
          <p:nvPr/>
        </p:nvSpPr>
        <p:spPr>
          <a:xfrm>
            <a:off x="365760" y="417060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50"/>
          <p:cNvSpPr/>
          <p:nvPr/>
        </p:nvSpPr>
        <p:spPr>
          <a:xfrm>
            <a:off x="749880" y="4133160"/>
            <a:ext cx="1590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OpenCLA / OpenClaw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1"/>
          <p:cNvSpPr/>
          <p:nvPr/>
        </p:nvSpPr>
        <p:spPr>
          <a:xfrm>
            <a:off x="2505600" y="4133160"/>
            <a:ext cx="30718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L6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OpenCLA/OpenClaw Runtime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52"/>
          <p:cNvSpPr/>
          <p:nvPr/>
        </p:nvSpPr>
        <p:spPr>
          <a:xfrm>
            <a:off x="5779080" y="4133160"/>
            <a:ext cx="23403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OpenCLA/OpenClaw Runtime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" name="Connector 53"/>
          <p:cNvCxnSpPr/>
          <p:nvPr/>
        </p:nvCxnSpPr>
        <p:spPr>
          <a:xfrm>
            <a:off x="8339040" y="427932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14" name="Connector 54"/>
          <p:cNvCxnSpPr/>
          <p:nvPr/>
        </p:nvCxnSpPr>
        <p:spPr>
          <a:xfrm>
            <a:off x="255960" y="450000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115" name="Rounded Rectangle 55"/>
          <p:cNvSpPr/>
          <p:nvPr/>
        </p:nvSpPr>
        <p:spPr>
          <a:xfrm>
            <a:off x="365760" y="458244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56"/>
          <p:cNvSpPr/>
          <p:nvPr/>
        </p:nvSpPr>
        <p:spPr>
          <a:xfrm>
            <a:off x="749880" y="4500360"/>
            <a:ext cx="15908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Swarms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57"/>
          <p:cNvSpPr/>
          <p:nvPr/>
        </p:nvSpPr>
        <p:spPr>
          <a:xfrm>
            <a:off x="2505600" y="4500360"/>
            <a:ext cx="30718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L7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Agentic Node Graph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L8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Parallel Swarm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8"/>
          <p:cNvSpPr/>
          <p:nvPr/>
        </p:nvSpPr>
        <p:spPr>
          <a:xfrm>
            <a:off x="5779080" y="4500360"/>
            <a:ext cx="23403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Node Graphs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Parallel Swarms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" name="Connector 59"/>
          <p:cNvCxnSpPr/>
          <p:nvPr/>
        </p:nvCxnSpPr>
        <p:spPr>
          <a:xfrm>
            <a:off x="8339040" y="464652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20" name="Connector 60"/>
          <p:cNvCxnSpPr/>
          <p:nvPr/>
        </p:nvCxnSpPr>
        <p:spPr>
          <a:xfrm>
            <a:off x="8339040" y="482940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21" name="Connector 61"/>
          <p:cNvCxnSpPr/>
          <p:nvPr/>
        </p:nvCxnSpPr>
        <p:spPr>
          <a:xfrm>
            <a:off x="255960" y="495684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122" name="Rectangle 62"/>
          <p:cNvSpPr/>
          <p:nvPr/>
        </p:nvSpPr>
        <p:spPr>
          <a:xfrm>
            <a:off x="255960" y="4956840"/>
            <a:ext cx="11679120" cy="366480"/>
          </a:xfrm>
          <a:prstGeom prst="rect">
            <a:avLst/>
          </a:prstGeom>
          <a:solidFill>
            <a:srgbClr val="F7F5F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ounded Rectangle 63"/>
          <p:cNvSpPr/>
          <p:nvPr/>
        </p:nvSpPr>
        <p:spPr>
          <a:xfrm>
            <a:off x="365760" y="499428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64"/>
          <p:cNvSpPr/>
          <p:nvPr/>
        </p:nvSpPr>
        <p:spPr>
          <a:xfrm>
            <a:off x="749880" y="4956840"/>
            <a:ext cx="1590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Deep Research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65"/>
          <p:cNvSpPr/>
          <p:nvPr/>
        </p:nvSpPr>
        <p:spPr>
          <a:xfrm>
            <a:off x="2505600" y="4956840"/>
            <a:ext cx="307188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L9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Deep Research Agent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66"/>
          <p:cNvSpPr/>
          <p:nvPr/>
        </p:nvSpPr>
        <p:spPr>
          <a:xfrm>
            <a:off x="5779080" y="4956840"/>
            <a:ext cx="234036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Deep Research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7" name="Connector 67"/>
          <p:cNvCxnSpPr/>
          <p:nvPr/>
        </p:nvCxnSpPr>
        <p:spPr>
          <a:xfrm>
            <a:off x="8339040" y="510300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28" name="Connector 68"/>
          <p:cNvCxnSpPr/>
          <p:nvPr/>
        </p:nvCxnSpPr>
        <p:spPr>
          <a:xfrm>
            <a:off x="255960" y="532368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129" name="Rounded Rectangle 69"/>
          <p:cNvSpPr/>
          <p:nvPr/>
        </p:nvSpPr>
        <p:spPr>
          <a:xfrm>
            <a:off x="365760" y="5450760"/>
            <a:ext cx="292320" cy="292320"/>
          </a:xfrm>
          <a:prstGeom prst="roundRect">
            <a:avLst>
              <a:gd name="adj" fmla="val 50000"/>
            </a:avLst>
          </a:prstGeom>
          <a:solidFill>
            <a:srgbClr val="B02A2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0" rIns="9000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</a:t>
            </a:r>
            <a:endParaRPr lang="en-GB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0"/>
          <p:cNvSpPr/>
          <p:nvPr/>
        </p:nvSpPr>
        <p:spPr>
          <a:xfrm>
            <a:off x="749880" y="5324040"/>
            <a:ext cx="159084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5000"/>
              </a:lnSpc>
              <a:spcAft>
                <a:spcPts val="99"/>
              </a:spcAft>
            </a:pPr>
            <a:r>
              <a:rPr lang="en-US" sz="1300" b="1" u="none" strike="noStrike">
                <a:solidFill>
                  <a:srgbClr val="1B2A4A"/>
                </a:solidFill>
                <a:effectLst/>
                <a:uFillTx/>
                <a:latin typeface="Calibri"/>
              </a:rPr>
              <a:t>Cloud SDLC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71"/>
          <p:cNvSpPr/>
          <p:nvPr/>
        </p:nvSpPr>
        <p:spPr>
          <a:xfrm>
            <a:off x="2505600" y="5324040"/>
            <a:ext cx="307188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L10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Cloud Operations Agent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L11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Agentic SDLC Factory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1100" b="1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L12  </a:t>
            </a:r>
            <a:r>
              <a:rPr lang="en-US" sz="110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Safety &amp; Governance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72"/>
          <p:cNvSpPr/>
          <p:nvPr/>
        </p:nvSpPr>
        <p:spPr>
          <a:xfrm>
            <a:off x="5779080" y="5324040"/>
            <a:ext cx="234036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Cloud Agents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Agentic SDLC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lang="en-US" sz="900" b="0" u="none" strike="noStrike">
                <a:solidFill>
                  <a:srgbClr val="B02A2A"/>
                </a:solidFill>
                <a:effectLst/>
                <a:uFillTx/>
                <a:latin typeface="Calibri"/>
              </a:rPr>
              <a:t>• </a:t>
            </a:r>
            <a:r>
              <a:rPr lang="en-US" sz="1050" b="0" u="none" strike="noStrike">
                <a:solidFill>
                  <a:srgbClr val="22272E"/>
                </a:solidFill>
                <a:effectLst/>
                <a:uFillTx/>
                <a:latin typeface="Calibri"/>
              </a:rPr>
              <a:t>Responsible Autonomy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3" name="Connector 73"/>
          <p:cNvCxnSpPr/>
          <p:nvPr/>
        </p:nvCxnSpPr>
        <p:spPr>
          <a:xfrm>
            <a:off x="8339040" y="547020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34" name="Connector 74"/>
          <p:cNvCxnSpPr/>
          <p:nvPr/>
        </p:nvCxnSpPr>
        <p:spPr>
          <a:xfrm>
            <a:off x="8339040" y="5653080"/>
            <a:ext cx="3468960" cy="360"/>
          </a:xfrm>
          <a:prstGeom prst="straightConnector1">
            <a:avLst/>
          </a:prstGeom>
          <a:ln w="9525">
            <a:solidFill>
              <a:srgbClr val="C9C2B8"/>
            </a:solidFill>
            <a:round/>
          </a:ln>
        </p:spPr>
      </p:cxnSp>
      <p:cxnSp>
        <p:nvCxnSpPr>
          <p:cNvPr id="135" name="Connector 75"/>
          <p:cNvCxnSpPr/>
          <p:nvPr/>
        </p:nvCxnSpPr>
        <p:spPr>
          <a:xfrm>
            <a:off x="255960" y="5870160"/>
            <a:ext cx="11679840" cy="3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cxnSp>
        <p:nvCxnSpPr>
          <p:cNvPr id="136" name="Connector 76"/>
          <p:cNvCxnSpPr/>
          <p:nvPr/>
        </p:nvCxnSpPr>
        <p:spPr>
          <a:xfrm>
            <a:off x="2395440" y="2541960"/>
            <a:ext cx="360" cy="33285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cxnSp>
        <p:nvCxnSpPr>
          <p:cNvPr id="137" name="Connector 77"/>
          <p:cNvCxnSpPr/>
          <p:nvPr/>
        </p:nvCxnSpPr>
        <p:spPr>
          <a:xfrm>
            <a:off x="5669280" y="2541960"/>
            <a:ext cx="360" cy="33285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cxnSp>
        <p:nvCxnSpPr>
          <p:cNvPr id="138" name="Connector 78"/>
          <p:cNvCxnSpPr/>
          <p:nvPr/>
        </p:nvCxnSpPr>
        <p:spPr>
          <a:xfrm>
            <a:off x="8211240" y="2541960"/>
            <a:ext cx="360" cy="3328560"/>
          </a:xfrm>
          <a:prstGeom prst="straightConnector1">
            <a:avLst/>
          </a:prstGeom>
          <a:ln w="9525">
            <a:solidFill>
              <a:srgbClr val="D9D3CB"/>
            </a:solidFill>
            <a:round/>
          </a:ln>
        </p:spPr>
      </p:cxnSp>
      <p:sp>
        <p:nvSpPr>
          <p:cNvPr id="139" name="Rectangle 79"/>
          <p:cNvSpPr/>
          <p:nvPr/>
        </p:nvSpPr>
        <p:spPr>
          <a:xfrm>
            <a:off x="255960" y="2541960"/>
            <a:ext cx="11679120" cy="3420000"/>
          </a:xfrm>
          <a:prstGeom prst="rect">
            <a:avLst/>
          </a:prstGeom>
          <a:noFill/>
          <a:ln w="12700">
            <a:solidFill>
              <a:srgbClr val="C9C2B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ounded Rectangle 80"/>
          <p:cNvSpPr/>
          <p:nvPr/>
        </p:nvSpPr>
        <p:spPr>
          <a:xfrm>
            <a:off x="255960" y="5961960"/>
            <a:ext cx="11679120" cy="511560"/>
          </a:xfrm>
          <a:prstGeom prst="roundRect">
            <a:avLst>
              <a:gd name="adj" fmla="val 6000"/>
            </a:avLst>
          </a:prstGeom>
          <a:solidFill>
            <a:srgbClr val="F7ECEC"/>
          </a:solidFill>
          <a:ln>
            <a:solidFill>
              <a:srgbClr val="E4C9C9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81"/>
          <p:cNvSpPr/>
          <p:nvPr/>
        </p:nvSpPr>
        <p:spPr>
          <a:xfrm>
            <a:off x="438840" y="6126120"/>
            <a:ext cx="113133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CAPSTONE — COMPLETED: L13 Discipline-Specific Agents · L14 Capstone Project Studio — deployed, auditable placement-readiness worklet.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82"/>
          <p:cNvSpPr/>
          <p:nvPr/>
        </p:nvSpPr>
        <p:spPr>
          <a:xfrm>
            <a:off x="255960" y="6473880"/>
            <a:ext cx="86864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Completed: L7–L14.  L1–L6 are not recorded as standalone completions; their foundation components are implemented in the backend.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83"/>
          <p:cNvSpPr/>
          <p:nvPr/>
        </p:nvSpPr>
        <p:spPr>
          <a:xfrm>
            <a:off x="10058400" y="6473880"/>
            <a:ext cx="1874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  <a:spcAft>
                <a:spcPts val="99"/>
              </a:spcAft>
            </a:pPr>
            <a:r>
              <a:rPr lang="en-US" sz="950" b="0" u="none" strike="noStrike">
                <a:solidFill>
                  <a:srgbClr val="5A6270"/>
                </a:solidFill>
                <a:effectLst/>
                <a:uFillTx/>
                <a:latin typeface="Calibri"/>
              </a:rPr>
              <a:t>KLE Technological University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384120" y="1554480"/>
            <a:ext cx="18741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10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9"/>
          <p:cNvSpPr/>
          <p:nvPr/>
        </p:nvSpPr>
        <p:spPr>
          <a:xfrm>
            <a:off x="2514600" y="1554480"/>
            <a:ext cx="26056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5394960" y="1554480"/>
            <a:ext cx="61718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Assess placement readiness from student evidence, recommend role matches and roadmaps, with placement-officer approval.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1"/>
          <p:cNvSpPr/>
          <p:nvPr/>
        </p:nvSpPr>
        <p:spPr>
          <a:xfrm>
            <a:off x="8339400" y="2928240"/>
            <a:ext cx="3486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L1–L2 not recorded as standalone labs. Coordinator and typed tool calls exist in the backend and are used by the pipeline.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8"/>
          <p:cNvSpPr/>
          <p:nvPr/>
        </p:nvSpPr>
        <p:spPr>
          <a:xfrm>
            <a:off x="8339400" y="3384720"/>
            <a:ext cx="3486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L3–L4 not recorded as standalone labs. Reusable agent services and pgvector retrieval are implemented for profile/context lookup.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44"/>
          <p:cNvSpPr/>
          <p:nvPr/>
        </p:nvSpPr>
        <p:spPr>
          <a:xfrm>
            <a:off x="8339400" y="3796560"/>
            <a:ext cx="3486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L5 not recorded as standalone. Governed Student, Role and Coding connectors expose typed, consistent data access.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51"/>
          <p:cNvSpPr/>
          <p:nvPr/>
        </p:nvSpPr>
        <p:spPr>
          <a:xfrm>
            <a:off x="8339400" y="4163400"/>
            <a:ext cx="3486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L6 not recorded as standalone. Runtime controls the graph with checkpoints, approval gates and audit logging.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57"/>
          <p:cNvSpPr/>
          <p:nvPr/>
        </p:nvSpPr>
        <p:spPr>
          <a:xfrm>
            <a:off x="8339400" y="4499280"/>
            <a:ext cx="3486240" cy="45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L7–L8 COMPLETE: LangGraph wires Coordinator, Resume, Skill Gap, Coding, Match, Interview and Validation agents; batch fan-out/fan-in merges results.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64"/>
          <p:cNvSpPr/>
          <p:nvPr/>
        </p:nvSpPr>
        <p:spPr>
          <a:xfrm>
            <a:off x="8339400" y="4987080"/>
            <a:ext cx="3486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L9 COMPLETE: EvidenceRecord schema, grounding checks and an evidence API ensure recommendations trace to verified inputs.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70"/>
          <p:cNvSpPr/>
          <p:nvPr/>
        </p:nvSpPr>
        <p:spPr>
          <a:xfrm>
            <a:off x="8339400" y="5444280"/>
            <a:ext cx="348624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L10–L12 COMPLETE: targeted self-healing; automated acceptance tests; RBAC, consent, approvals, versioning and rollback.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LibreOffice/26.2.6.1$Linux_X86_64 LibreOffice_project/620$Build-1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2026-09-08T22:51:09Z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